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 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 1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Cat 1</c:v>
                </c:pt>
                <c:pt idx="1">
                  <c:v>Cat 2</c:v>
                </c:pt>
                <c:pt idx="2">
                  <c:v>Cat 3</c:v>
                </c:pt>
                <c:pt idx="3">
                  <c:v>Cat 4</c:v>
                </c:pt>
                <c:pt idx="4">
                  <c:v>Cat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1001</c:v>
                </c:pt>
                <c:pt idx="2">
                  <c:v>1002</c:v>
                </c:pt>
                <c:pt idx="3">
                  <c:v>1003</c:v>
                </c:pt>
                <c:pt idx="4">
                  <c:v>1004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2"/>
          <p:cNvSpPr txBox="1"/>
          <p:nvPr/>
        </p:nvSpPr>
        <p:spPr>
          <a:xfrm>
            <a:off x="6828739" y="1788566"/>
            <a:ext cx="3585362" cy="4425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pectrum Sans Bold"/>
              </a:rPr>
              <a:t>High Profile Programming</a:t>
            </a:r>
          </a:p>
        </p:txBody>
      </p:sp>
      <p:sp>
        <p:nvSpPr>
          <p:cNvPr id="3" name="Slide Number Placeholder 1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t>1</a:t>
            </a:r>
          </a:p>
        </p:txBody>
      </p:sp>
      <p:sp>
        <p:nvSpPr>
          <p:cNvPr id="4" name="Title 23"/>
          <p:cNvSpPr txBox="1"/>
          <p:nvPr/>
        </p:nvSpPr>
        <p:spPr>
          <a:xfrm>
            <a:off x="558698" y="657453"/>
            <a:ext cx="11074298" cy="6473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Spectrum Sans Bold"/>
              </a:rPr>
              <a:t>Target, Deliver and Measure Your Audience with Linear</a:t>
            </a:r>
          </a:p>
        </p:txBody>
      </p:sp>
      <p:sp>
        <p:nvSpPr>
          <p:cNvPr id="5" name="ClientName and Date"/>
          <p:cNvSpPr txBox="1"/>
          <p:nvPr/>
        </p:nvSpPr>
        <p:spPr>
          <a:xfrm>
            <a:off x="558698" y="385876"/>
            <a:ext cx="11074298" cy="2157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271EB"/>
                </a:solidFill>
              </a:rPr>
              <a:t>CLIENT NAME | MONTH 1st, 2026 – MONTH 31st, 2026</a:t>
            </a:r>
          </a:p>
        </p:txBody>
      </p:sp>
      <p:sp>
        <p:nvSpPr>
          <p:cNvPr id="6" name="Rounded Rectangle 3"/>
          <p:cNvSpPr/>
          <p:nvPr/>
        </p:nvSpPr>
        <p:spPr>
          <a:xfrm>
            <a:off x="543153" y="1405432"/>
            <a:ext cx="11074298" cy="300837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Spectrum Sans Bold"/>
              </a:rPr>
              <a:t>LINEAR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0647" y="1784908"/>
            <a:ext cx="1545336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latin typeface="Spectrum Sans Bold"/>
              </a:rPr>
              <a:t>X,XXX</a:t>
            </a:r>
          </a:p>
          <a:p>
            <a:pPr algn="ctr"/>
            <a:r>
              <a:rPr sz="1400" b="1" i="0">
                <a:solidFill>
                  <a:srgbClr val="000000"/>
                </a:solidFill>
                <a:latin typeface="Spectrum Sans Bold"/>
              </a:rPr>
              <a:t>AIRINGS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65192" y="1784908"/>
            <a:ext cx="2302459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latin typeface="Spectrum Sans Bold"/>
              </a:rPr>
              <a:t>XX</a:t>
            </a:r>
          </a:p>
          <a:p>
            <a:pPr algn="ctr"/>
            <a:r>
              <a:rPr sz="1400" b="1" i="0">
                <a:solidFill>
                  <a:srgbClr val="000000"/>
                </a:solidFill>
                <a:latin typeface="Spectrum Sans Bold"/>
              </a:rPr>
              <a:t>NETWORKS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8901684" y="1780336"/>
            <a:ext cx="2152497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latin typeface="Spectrum Sans Bold"/>
              </a:rPr>
              <a:t>X</a:t>
            </a:r>
            <a:r>
              <a:rPr sz="3200" b="1" i="0">
                <a:solidFill>
                  <a:srgbClr val="FF0000"/>
                </a:solidFill>
                <a:latin typeface="Spectrum Sans Bold"/>
              </a:rPr>
              <a:t> </a:t>
            </a:r>
          </a:p>
          <a:p>
            <a:pPr algn="ctr"/>
            <a:r>
              <a:rPr sz="1400" b="1" i="0">
                <a:solidFill>
                  <a:srgbClr val="000000"/>
                </a:solidFill>
                <a:latin typeface="Spectrum Sans Bold"/>
              </a:rPr>
              <a:t>ZONES</a:t>
            </a:r>
          </a:p>
        </p:txBody>
      </p:sp>
      <p:sp>
        <p:nvSpPr>
          <p:cNvPr id="10" name="TargetingBox"/>
          <p:cNvSpPr/>
          <p:nvPr/>
        </p:nvSpPr>
        <p:spPr>
          <a:xfrm>
            <a:off x="558698" y="2551176"/>
            <a:ext cx="11074298" cy="304495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Spectrum Sans Bold"/>
              </a:rPr>
              <a:t>TARGETING: XX</a:t>
            </a:r>
          </a:p>
        </p:txBody>
      </p:sp>
      <p:sp>
        <p:nvSpPr>
          <p:cNvPr id="11" name="TextBox 19"/>
          <p:cNvSpPr txBox="1"/>
          <p:nvPr/>
        </p:nvSpPr>
        <p:spPr>
          <a:xfrm>
            <a:off x="806500" y="6379768"/>
            <a:ext cx="5767120" cy="215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Spectrum Sans"/>
              </a:rPr>
              <a:t>Source: Spectrum Reach Audience Trak; [XX/XX/XXXX-XX/XX/XXXX]; [CLIENT NAME]. Pulled [MONTH/YEAR]</a:t>
            </a:r>
          </a:p>
        </p:txBody>
      </p:sp>
      <p:sp>
        <p:nvSpPr>
          <p:cNvPr id="12" name="Rounded Rectangle 3"/>
          <p:cNvSpPr/>
          <p:nvPr/>
        </p:nvSpPr>
        <p:spPr>
          <a:xfrm>
            <a:off x="575157" y="2931566"/>
            <a:ext cx="3123590" cy="386791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 i="0">
                <a:solidFill>
                  <a:srgbClr val="FFFFFF"/>
                </a:solidFill>
                <a:latin typeface="Spectrum Sans Bold"/>
              </a:rPr>
              <a:t>AIRINGS BY ZONE</a:t>
            </a:r>
          </a:p>
        </p:txBody>
      </p:sp>
      <p:graphicFrame>
        <p:nvGraphicFramePr>
          <p:cNvPr id="13" name="Table 7"/>
          <p:cNvGraphicFramePr>
            <a:graphicFrameLocks noGrp="1"/>
          </p:cNvGraphicFramePr>
          <p:nvPr/>
        </p:nvGraphicFramePr>
        <p:xfrm>
          <a:off x="564184" y="3318357"/>
          <a:ext cx="312359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795"/>
                <a:gridCol w="1561795"/>
              </a:tblGrid>
              <a:tr h="262890">
                <a:tc>
                  <a:txBody>
                    <a:bodyPr/>
                    <a:lstStyle/>
                    <a:p>
                      <a:r>
                        <a:t>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Airings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ZONE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X,XXX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ZONE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X,XXX</a:t>
                      </a:r>
                    </a:p>
                  </a:txBody>
                  <a:tcPr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t>ZONE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X,XXX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Map1" descr="_fak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" y="4577486"/>
            <a:ext cx="3119018" cy="1728216"/>
          </a:xfrm>
          <a:prstGeom prst="rect">
            <a:avLst/>
          </a:prstGeom>
        </p:spPr>
      </p:pic>
      <p:sp>
        <p:nvSpPr>
          <p:cNvPr id="15" name="ClientLogo"/>
          <p:cNvSpPr/>
          <p:nvPr/>
        </p:nvSpPr>
        <p:spPr>
          <a:xfrm>
            <a:off x="9540849" y="66751"/>
            <a:ext cx="1746504" cy="647395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Spectrum Sans Bold"/>
              </a:rPr>
              <a:t>CLIENT LOGO</a:t>
            </a:r>
          </a:p>
        </p:txBody>
      </p:sp>
      <p:graphicFrame>
        <p:nvGraphicFramePr>
          <p:cNvPr id="16" name="Chart 13"/>
          <p:cNvGraphicFramePr>
            <a:graphicFrameLocks noGrp="1"/>
          </p:cNvGraphicFramePr>
          <p:nvPr/>
        </p:nvGraphicFramePr>
        <p:xfrm>
          <a:off x="8471001" y="3003804"/>
          <a:ext cx="3145536" cy="335219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ectangle: Rounded Corners 14"/>
          <p:cNvSpPr/>
          <p:nvPr/>
        </p:nvSpPr>
        <p:spPr>
          <a:xfrm>
            <a:off x="3981297" y="2960827"/>
            <a:ext cx="4249216" cy="981151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latin typeface="Spectrum Sans Bold"/>
              </a:rPr>
              <a:t>LINEAR DELIVERY </a:t>
            </a:r>
          </a:p>
          <a:p>
            <a:pPr algn="ctr"/>
          </a:p>
          <a:p>
            <a:pPr algn="ctr"/>
            <a:r>
              <a:rPr sz="1100">
                <a:solidFill>
                  <a:srgbClr val="000000"/>
                </a:solidFill>
              </a:rPr>
              <a:t>Your ad aired 4,085 times in April! With the extended reach and access to additional platforms, your ads aired across 34 networks with partners and affiliates in 8 zones.</a:t>
            </a:r>
          </a:p>
        </p:txBody>
      </p:sp>
      <p:graphicFrame>
        <p:nvGraphicFramePr>
          <p:cNvPr id="18" name="Chart 15"/>
          <p:cNvGraphicFramePr>
            <a:graphicFrameLocks noGrp="1"/>
          </p:cNvGraphicFramePr>
          <p:nvPr/>
        </p:nvGraphicFramePr>
        <p:xfrm>
          <a:off x="3941978" y="4111142"/>
          <a:ext cx="4306824" cy="211500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